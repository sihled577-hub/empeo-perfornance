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4114800" cy="54864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Performance Results &amp; Insights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Performance Evaluation for Confident People Decisions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 |  July 9,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45920"/>
            <a:ext cx="1088136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current performance results screen shows a single aggregated score with no depth across the evaluation dimensions, lacks decision-ready insight for salary, bonus, or promotion decisions, and cannot reliably support fair, transparent people outcomes."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474720"/>
            <a:ext cx="1097280" cy="27432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8404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FF5ED"/>
          </a:solidFill>
          <a:ln w="6350">
            <a:solidFill>
              <a:srgbClr val="D953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a single number with no dimensional breakdown or trend context.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8404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FF5ED"/>
          </a:solidFill>
          <a:ln w="6350">
            <a:solidFill>
              <a:srgbClr val="D953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cannot confidently recommend salary adjustments, bonuses, or promotions from the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38404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FF5ED"/>
          </a:solidFill>
          <a:ln w="6350">
            <a:solidFill>
              <a:srgbClr val="D953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297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transparency, employees question the fairness and accuracy of their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Breakdown — What's Missing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554480"/>
            <a:ext cx="73152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2860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Single-score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9718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dimension breakdown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trend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comparison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54480"/>
            <a:ext cx="73152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Gaps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eligibility logic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insight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6576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view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3434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bias detection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0" y="1554480"/>
            <a:ext cx="73152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Role Gaps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595360" y="22860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34" name="Text 32"/>
          <p:cNvSpPr/>
          <p:nvPr/>
        </p:nvSpPr>
        <p:spPr>
          <a:xfrm>
            <a:off x="886968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for all roles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95360" y="29718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36" name="Text 34"/>
          <p:cNvSpPr/>
          <p:nvPr/>
        </p:nvSpPr>
        <p:spPr>
          <a:xfrm>
            <a:off x="886968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manager dashboard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95360" y="36576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employee development view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95360" y="4343400"/>
            <a:ext cx="109728" cy="109728"/>
          </a:xfrm>
          <a:prstGeom prst="roundRect">
            <a:avLst/>
          </a:prstGeom>
          <a:solidFill>
            <a:srgbClr val="D9530A"/>
          </a:solidFill>
          <a:ln/>
        </p:spPr>
      </p:sp>
      <p:sp>
        <p:nvSpPr>
          <p:cNvPr id="40" name="Text 38"/>
          <p:cNvSpPr/>
          <p:nvPr/>
        </p:nvSpPr>
        <p:spPr>
          <a:xfrm>
            <a:off x="886968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exploration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Single-Score Reliance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20116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hide strengths, weaknesses, and patterns across dimensions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0664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Insight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06640" y="20116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cannot compare ratings across teams to ensure consistency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114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or Benchmarking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44805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lack departmental, role, or peer benchmarks for reference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4114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View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44805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managers, and employees all see the same limited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Their Core Needs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3474720" cy="54864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64592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Org-wide calibration 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Fairness &amp; bias checks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Predictive decision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Configurable thresholds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371600"/>
            <a:ext cx="3474720" cy="54864"/>
          </a:xfrm>
          <a:prstGeom prst="rect">
            <a:avLst/>
          </a:prstGeom>
          <a:solidFill>
            <a:srgbClr val="6B5F54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7840" y="164592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6B5F54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 report overview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Side-by-side comparison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Strengths &amp; gap insights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983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Development suggestions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1371600"/>
            <a:ext cx="3474720" cy="54864"/>
          </a:xfrm>
          <a:prstGeom prst="rect">
            <a:avLst/>
          </a:prstGeom>
          <a:solidFill>
            <a:srgbClr val="3F7D33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0" y="164592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3F7D33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 score breakdown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Growth area identification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 badge rationale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0" y="4983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Next-step guidance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Insights Matter — Evaluation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2514600" cy="4754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2514600" cy="54864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60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29184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65960" y="329184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0233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484632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20" name="Shape 18"/>
          <p:cNvSpPr/>
          <p:nvPr/>
        </p:nvSpPr>
        <p:spPr>
          <a:xfrm>
            <a:off x="1965960" y="484632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21" name="Shape 19"/>
          <p:cNvSpPr/>
          <p:nvPr/>
        </p:nvSpPr>
        <p:spPr>
          <a:xfrm>
            <a:off x="3337560" y="1371600"/>
            <a:ext cx="2514600" cy="4754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371600"/>
            <a:ext cx="2514600" cy="54864"/>
          </a:xfrm>
          <a:prstGeom prst="rect">
            <a:avLst/>
          </a:prstGeom>
          <a:solidFill>
            <a:srgbClr val="6B5F54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&amp;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11880" y="2468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2560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03320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329184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329184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29" name="Shape 27"/>
          <p:cNvSpPr/>
          <p:nvPr/>
        </p:nvSpPr>
        <p:spPr>
          <a:xfrm>
            <a:off x="3611880" y="40233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03320" y="4526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03320" y="484632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33" name="Shape 31"/>
          <p:cNvSpPr/>
          <p:nvPr/>
        </p:nvSpPr>
        <p:spPr>
          <a:xfrm>
            <a:off x="4663440" y="484632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0" y="1371600"/>
            <a:ext cx="2514600" cy="4754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371600"/>
            <a:ext cx="2514600" cy="54864"/>
          </a:xfrm>
          <a:prstGeom prst="rect">
            <a:avLst/>
          </a:prstGeom>
          <a:solidFill>
            <a:srgbClr val="3F7D33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F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09360" y="2468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560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329184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41" name="Shape 39"/>
          <p:cNvSpPr/>
          <p:nvPr/>
        </p:nvSpPr>
        <p:spPr>
          <a:xfrm>
            <a:off x="7360920" y="329184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9360" y="40233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0" y="4526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484632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46" name="Shape 44"/>
          <p:cNvSpPr/>
          <p:nvPr/>
        </p:nvSpPr>
        <p:spPr>
          <a:xfrm>
            <a:off x="7360920" y="484632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47" name="Shape 45"/>
          <p:cNvSpPr/>
          <p:nvPr/>
        </p:nvSpPr>
        <p:spPr>
          <a:xfrm>
            <a:off x="8732520" y="1371600"/>
            <a:ext cx="2514600" cy="4754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732520" y="1371600"/>
            <a:ext cx="2514600" cy="54864"/>
          </a:xfrm>
          <a:prstGeom prst="rect">
            <a:avLst/>
          </a:prstGeom>
          <a:solidFill>
            <a:srgbClr val="B8440A"/>
          </a:solidFill>
          <a:ln/>
        </p:spPr>
      </p:sp>
      <p:sp>
        <p:nvSpPr>
          <p:cNvPr id="49" name="Text 47"/>
          <p:cNvSpPr/>
          <p:nvPr/>
        </p:nvSpPr>
        <p:spPr>
          <a:xfrm>
            <a:off x="891540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84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84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006840" y="24688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51" name="Text 49"/>
          <p:cNvSpPr/>
          <p:nvPr/>
        </p:nvSpPr>
        <p:spPr>
          <a:xfrm>
            <a:off x="9098280" y="2560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98280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098280" y="329184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58400" y="329184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55" name="Shape 53"/>
          <p:cNvSpPr/>
          <p:nvPr/>
        </p:nvSpPr>
        <p:spPr>
          <a:xfrm>
            <a:off x="9006840" y="40233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AF7F5"/>
          </a:solidFill>
          <a:ln/>
        </p:spPr>
      </p:sp>
      <p:sp>
        <p:nvSpPr>
          <p:cNvPr id="56" name="Text 54"/>
          <p:cNvSpPr/>
          <p:nvPr/>
        </p:nvSpPr>
        <p:spPr>
          <a:xfrm>
            <a:off x="909828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098280" y="4526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 – 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098280" y="484632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058400" y="484632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Three-Layer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182880" cy="1463040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multi-dimensional scores, radar visualization, historical trends, strengths &amp; improvement areas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182880" cy="1463040"/>
          </a:xfrm>
          <a:prstGeom prst="rect">
            <a:avLst/>
          </a:prstGeom>
          <a:solidFill>
            <a:srgbClr val="6B5F5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749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eligibility badges with transparent rule logic, configurable thresholds, role-based views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4617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5029200"/>
            <a:ext cx="182880" cy="1463040"/>
          </a:xfrm>
          <a:prstGeom prst="rect">
            <a:avLst/>
          </a:prstGeom>
          <a:solidFill>
            <a:srgbClr val="3F7D33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166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predictions for salary, bonus &amp; promotion with top contributing factors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Screen — Performance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45920"/>
            <a:ext cx="6309360" cy="4206240"/>
          </a:xfrm>
          <a:prstGeom prst="roundRect">
            <a:avLst/>
          </a:prstGeom>
          <a:solidFill>
            <a:srgbClr val="F3EDE8"/>
          </a:solidFill>
          <a:ln w="6350">
            <a:solidFill>
              <a:srgbClr val="E0D8D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[8-Metric Radar / Bar Chart]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D9530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 capture of the 8-metric radar chart showing all dimension scores for the current quarter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0" y="13716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1737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6012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5.0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Q3 · Current Quarter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356616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402336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3F7D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Watchlist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3F7D33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Eligible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5212080"/>
            <a:ext cx="54864" cy="457200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5074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Callout: KPI cards show score, department, tenure, and status badges with hover tooltip explaining the "why" behind each badge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Screen — Historical Trend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108813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45920"/>
            <a:ext cx="10332720" cy="4206240"/>
          </a:xfrm>
          <a:prstGeom prst="roundRect">
            <a:avLst/>
          </a:prstGeom>
          <a:solidFill>
            <a:srgbClr val="F3EDE8"/>
          </a:solidFill>
          <a:ln w="6350">
            <a:solidFill>
              <a:srgbClr val="E0D8D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[6-Quarter Line Chart]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10332720" cy="457200"/>
          </a:xfrm>
          <a:prstGeom prst="roundRect">
            <a:avLst>
              <a:gd name="adj" fmla="val 16000"/>
            </a:avLst>
          </a:prstGeom>
          <a:solidFill>
            <a:srgbClr val="D9530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 capture of the trend line chart showing overall score progression across 6 quarters with metric toggle dropdown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01200" y="1508760"/>
            <a:ext cx="320040" cy="320040"/>
          </a:xfrm>
          <a:prstGeom prst="pie">
            <a:avLst/>
          </a:prstGeom>
          <a:solidFill>
            <a:srgbClr val="D9530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53035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toggle individual metrics on/off and hover data points for exact quarter values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Screen — Conditional Eligibility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64008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45920"/>
            <a:ext cx="5852160" cy="4206240"/>
          </a:xfrm>
          <a:prstGeom prst="roundRect">
            <a:avLst/>
          </a:prstGeom>
          <a:solidFill>
            <a:srgbClr val="F3EDE8"/>
          </a:solidFill>
          <a:ln w="6350">
            <a:solidFill>
              <a:srgbClr val="E0D8D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[Badges with Tooltip Explanations]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 capture showing badges: Promotion Watchlist, Bonus Eligible, Needs Improvement Plan, Stable Performer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0" y="137160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196596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1965960"/>
            <a:ext cx="45720" cy="822960"/>
          </a:xfrm>
          <a:prstGeom prst="rect">
            <a:avLst/>
          </a:prstGeom>
          <a:solidFill>
            <a:srgbClr val="3F7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Watchlist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≥ 4.2 for 2+ consecutive quarters AND Problem Solving ≥ 4 AND Integrity ≥ 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297180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0" y="2971800"/>
            <a:ext cx="45720" cy="822960"/>
          </a:xfrm>
          <a:prstGeom prst="rect">
            <a:avLst/>
          </a:prstGeom>
          <a:solidFill>
            <a:srgbClr val="3F7D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Eligible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≥ 3.8 in current quarter AND Goal Achievement ≥ 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89520" y="39776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3977640"/>
            <a:ext cx="45720" cy="822960"/>
          </a:xfrm>
          <a:prstGeom prst="rect">
            <a:avLst/>
          </a:prstGeom>
          <a:solidFill>
            <a:srgbClr val="B8440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&lt; 2.8 OR any metric ≤ 2 for 2+ consecutive quarters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589520" y="4983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AF7F5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4983480"/>
            <a:ext cx="45720" cy="822960"/>
          </a:xfrm>
          <a:prstGeom prst="rect">
            <a:avLst/>
          </a:prstGeom>
          <a:solidFill>
            <a:srgbClr val="6B5F5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5029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Performer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when none of the above thresholds are met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Screen — Predictive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45920"/>
            <a:ext cx="6309360" cy="4206240"/>
          </a:xfrm>
          <a:prstGeom prst="roundRect">
            <a:avLst/>
          </a:prstGeom>
          <a:solidFill>
            <a:srgbClr val="F3EDE8"/>
          </a:solidFill>
          <a:ln w="6350">
            <a:solidFill>
              <a:srgbClr val="E0D8D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[Logistic Regression Output — 3 Probability Bars]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 capture showing probability bars for Salary Adjustment, Bonus Award, and Promotion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0" y="137160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Adjustment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3EDE8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224028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3F7D3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Award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3EDE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2926080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D9530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3611880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3EDE8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3611880"/>
            <a:ext cx="1554480" cy="182880"/>
          </a:xfrm>
          <a:prstGeom prst="roundRect">
            <a:avLst>
              <a:gd name="adj" fmla="val 50000"/>
            </a:avLst>
          </a:prstGeom>
          <a:solidFill>
            <a:srgbClr val="6B5F5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41148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FACTORS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617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"Goal Achievement and Problem Solving are the strongest drivers of promotion likelihood for this employee."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0" y="5349240"/>
            <a:ext cx="54864" cy="457200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5349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estimate — not automatic. Actual outcomes determined by HR review.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 — One Platform, Three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3474720" cy="54864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2926080" cy="1097280"/>
          </a:xfrm>
          <a:prstGeom prst="roundRect">
            <a:avLst/>
          </a:prstGeom>
          <a:solidFill>
            <a:srgbClr val="F3EDE8"/>
          </a:solidFill>
          <a:ln w="6350">
            <a:solidFill>
              <a:srgbClr val="E0D8D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[Org-wide table + rating distribution histogram]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employees, filter by department, spot leniency/strictness patterns, jump into individual overviews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371600"/>
            <a:ext cx="3474720" cy="54864"/>
          </a:xfrm>
          <a:prstGeom prst="rect">
            <a:avLst/>
          </a:prstGeom>
          <a:solidFill>
            <a:srgbClr val="6B5F5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2926080" cy="1097280"/>
          </a:xfrm>
          <a:prstGeom prst="roundRect">
            <a:avLst/>
          </a:prstGeom>
          <a:solidFill>
            <a:srgbClr val="F3EDE8"/>
          </a:solidFill>
          <a:ln w="6350">
            <a:solidFill>
              <a:srgbClr val="E0D8D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5488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[Direct report cards + comparison]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6576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direct reports with quick badges, one-click drill into any report, side-by-side comparison of two employees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1371600"/>
            <a:ext cx="3474720" cy="54864"/>
          </a:xfrm>
          <a:prstGeom prst="rect">
            <a:avLst/>
          </a:prstGeom>
          <a:solidFill>
            <a:srgbClr val="3F7D33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53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Performance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95360" y="2377440"/>
            <a:ext cx="2926080" cy="1097280"/>
          </a:xfrm>
          <a:prstGeom prst="roundRect">
            <a:avLst/>
          </a:prstGeom>
          <a:solidFill>
            <a:srgbClr val="F3EDE8"/>
          </a:solidFill>
          <a:ln w="6350">
            <a:solidFill>
              <a:srgbClr val="E0D8D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59536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[Simplified overview + next steps]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95360" y="36576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score, trend chart, strengths/gaps, badges with plain-language explanations, auto-generated development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— Why This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22860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A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554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Decisions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scoring reduces single-score bias and gives a complete picture of employee performance.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1097280" cy="27432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554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9552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Calibration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can review, compare, and calibrate across departments in a single consolidated view.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377440"/>
            <a:ext cx="1097280" cy="27432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023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28600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Logic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badge and prediction includes an explainable "why" — no black-box decisions.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846320"/>
            <a:ext cx="1097280" cy="27432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40233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95528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Views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55280" y="44805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managers, and employees each see the data that matters most to them in the right level of detail.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846320"/>
            <a:ext cx="1097280" cy="27432"/>
          </a:xfrm>
          <a:prstGeom prst="rect">
            <a:avLst/>
          </a:prstGeom>
          <a:solidFill>
            <a:srgbClr val="D9530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828800" cy="36576"/>
          </a:xfrm>
          <a:prstGeom prst="rect">
            <a:avLst/>
          </a:prstGeom>
          <a:solidFill>
            <a:srgbClr val="D9530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945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D9530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2–3 departments for 1 review cycle. Gather feedback on usability, badge logic, and prediction accuracy.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945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D9530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managers for calibration. Validate rating distributions and manager leniency detection.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0" y="219456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D9530A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926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27432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launch with employee communication, training materials, and ongoing model refinement.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5303520"/>
            <a:ext cx="5760720" cy="731520"/>
          </a:xfrm>
          <a:prstGeom prst="roundRect">
            <a:avLst>
              <a:gd name="adj" fmla="val 12500"/>
            </a:avLst>
          </a:prstGeom>
          <a:solidFill>
            <a:srgbClr val="D9530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530352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clickable prototype: http://127.0.0.1:3000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Feedback Welcome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 — Performance Insights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2026-07-09T08:16:23Z</dcterms:created>
  <dcterms:modified xsi:type="dcterms:W3CDTF">2026-07-09T08:16:23Z</dcterms:modified>
</cp:coreProperties>
</file>